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8a9929f95f4e79" /><Relationship Type="http://schemas.openxmlformats.org/officeDocument/2006/relationships/extended-properties" Target="/docProps/app.xml" Id="Rb1602f43ed7e44a7" /><Relationship Type="http://schemas.openxmlformats.org/officeDocument/2006/relationships/officeDocument" Target="/ppt/presentation.xml" Id="R0edb42df055e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03a9b7af66484a"/>
  </p:sldMasterIdLst>
  <p:notesMasterIdLst>
    <p:notesMasterId xmlns:r="http://schemas.openxmlformats.org/officeDocument/2006/relationships" r:id="Re71bff0652ba4dfc"/>
  </p:notesMasterIdLst>
  <p:sldIdLst>
    <p:sldId xmlns:r="http://schemas.openxmlformats.org/officeDocument/2006/relationships" id="256" r:id="R326a6a88b53049f1"/>
    <p:sldId xmlns:r="http://schemas.openxmlformats.org/officeDocument/2006/relationships" id="257" r:id="R95e8e78f170646e2"/>
    <p:sldId xmlns:r="http://schemas.openxmlformats.org/officeDocument/2006/relationships" id="258" r:id="Rbbf83903ca384932"/>
    <p:sldId xmlns:r="http://schemas.openxmlformats.org/officeDocument/2006/relationships" id="259" r:id="R7d964d8bdebe48f3"/>
    <p:sldId xmlns:r="http://schemas.openxmlformats.org/officeDocument/2006/relationships" id="260" r:id="Rd2d38fc9f30a411b"/>
    <p:sldId xmlns:r="http://schemas.openxmlformats.org/officeDocument/2006/relationships" id="261" r:id="R3323859c8f5b46bd"/>
    <p:sldId xmlns:r="http://schemas.openxmlformats.org/officeDocument/2006/relationships" id="262" r:id="R42ec385bd50d4157"/>
    <p:sldId xmlns:r="http://schemas.openxmlformats.org/officeDocument/2006/relationships" id="263" r:id="R6c8db456ed414cc8"/>
    <p:sldId xmlns:r="http://schemas.openxmlformats.org/officeDocument/2006/relationships" id="264" r:id="R3234fa41720b4d87"/>
    <p:sldId xmlns:r="http://schemas.openxmlformats.org/officeDocument/2006/relationships" id="265" r:id="Rb409c0cb1d7f4bb4"/>
    <p:sldId xmlns:r="http://schemas.openxmlformats.org/officeDocument/2006/relationships" id="266" r:id="R0dcc12a2639d4ee8"/>
    <p:sldId xmlns:r="http://schemas.openxmlformats.org/officeDocument/2006/relationships" id="267" r:id="R92341e68f7294fae"/>
    <p:sldId xmlns:r="http://schemas.openxmlformats.org/officeDocument/2006/relationships" id="268" r:id="Re0df6d5973ec429b"/>
    <p:sldId xmlns:r="http://schemas.openxmlformats.org/officeDocument/2006/relationships" id="269" r:id="R48b7aed1dbd1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d380e75474907" /><Relationship Type="http://schemas.openxmlformats.org/officeDocument/2006/relationships/slideMaster" Target="/ppt/slideMasters/slideMaster1.xml" Id="R1b03a9b7af66484a" /><Relationship Type="http://schemas.openxmlformats.org/officeDocument/2006/relationships/notesMaster" Target="/ppt/notesMasters/notesMaster1.xml" Id="Re71bff0652ba4dfc" /><Relationship Type="http://schemas.openxmlformats.org/officeDocument/2006/relationships/presProps" Target="/ppt/presProps.xml" Id="R905b2d6aa5c44292" /><Relationship Type="http://schemas.openxmlformats.org/officeDocument/2006/relationships/tableStyles" Target="/ppt/tableStyles.xml" Id="Rb6808c5f69514a1c" /><Relationship Type="http://schemas.openxmlformats.org/officeDocument/2006/relationships/slide" Target="/ppt/slides/slide1.xml" Id="R326a6a88b53049f1" /><Relationship Type="http://schemas.openxmlformats.org/officeDocument/2006/relationships/slide" Target="/ppt/slides/slide2.xml" Id="R95e8e78f170646e2" /><Relationship Type="http://schemas.openxmlformats.org/officeDocument/2006/relationships/slide" Target="/ppt/slides/slide3.xml" Id="Rbbf83903ca384932" /><Relationship Type="http://schemas.openxmlformats.org/officeDocument/2006/relationships/slide" Target="/ppt/slides/slide4.xml" Id="R7d964d8bdebe48f3" /><Relationship Type="http://schemas.openxmlformats.org/officeDocument/2006/relationships/slide" Target="/ppt/slides/slide5.xml" Id="Rd2d38fc9f30a411b" /><Relationship Type="http://schemas.openxmlformats.org/officeDocument/2006/relationships/slide" Target="/ppt/slides/slide6.xml" Id="R3323859c8f5b46bd" /><Relationship Type="http://schemas.openxmlformats.org/officeDocument/2006/relationships/slide" Target="/ppt/slides/slide7.xml" Id="R42ec385bd50d4157" /><Relationship Type="http://schemas.openxmlformats.org/officeDocument/2006/relationships/slide" Target="/ppt/slides/slide8.xml" Id="R6c8db456ed414cc8" /><Relationship Type="http://schemas.openxmlformats.org/officeDocument/2006/relationships/slide" Target="/ppt/slides/slide9.xml" Id="R3234fa41720b4d87" /><Relationship Type="http://schemas.openxmlformats.org/officeDocument/2006/relationships/slide" Target="/ppt/slides/slide10.xml" Id="Rb409c0cb1d7f4bb4" /><Relationship Type="http://schemas.openxmlformats.org/officeDocument/2006/relationships/slide" Target="/ppt/slides/slide11.xml" Id="R0dcc12a2639d4ee8" /><Relationship Type="http://schemas.openxmlformats.org/officeDocument/2006/relationships/slide" Target="/ppt/slides/slide12.xml" Id="R92341e68f7294fae" /><Relationship Type="http://schemas.openxmlformats.org/officeDocument/2006/relationships/slide" Target="/ppt/slides/slide13.xml" Id="Re0df6d5973ec429b" /><Relationship Type="http://schemas.openxmlformats.org/officeDocument/2006/relationships/slide" Target="/ppt/slides/slide14.xml" Id="R48b7aed1dbd1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2bd089e62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0c93cb585472e" /><Relationship Type="http://schemas.openxmlformats.org/officeDocument/2006/relationships/notesMaster" Target="/ppt/notesMasters/notesMaster1.xml" Id="R608fb9336bb7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936f5519d411f" /><Relationship Type="http://schemas.openxmlformats.org/officeDocument/2006/relationships/notesMaster" Target="/ppt/notesMasters/notesMaster1.xml" Id="R0fbd1a748f564b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2bc22196e4ab7" /><Relationship Type="http://schemas.openxmlformats.org/officeDocument/2006/relationships/notesMaster" Target="/ppt/notesMasters/notesMaster1.xml" Id="R1f2fc283bc0a41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dfb94b02f24b9a" /><Relationship Type="http://schemas.openxmlformats.org/officeDocument/2006/relationships/notesMaster" Target="/ppt/notesMasters/notesMaster1.xml" Id="Rb84b6115b9ae41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101ce9fa6414a" /><Relationship Type="http://schemas.openxmlformats.org/officeDocument/2006/relationships/notesMaster" Target="/ppt/notesMasters/notesMaster1.xml" Id="Rb34d15bcbbd5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c239b683049a4" /><Relationship Type="http://schemas.openxmlformats.org/officeDocument/2006/relationships/notesMaster" Target="/ppt/notesMasters/notesMaster1.xml" Id="Rcc3f5848cb0340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f93fc541ca43db" /><Relationship Type="http://schemas.openxmlformats.org/officeDocument/2006/relationships/notesMaster" Target="/ppt/notesMasters/notesMaster1.xml" Id="R217e6567044d48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bed121e8244ffb" /><Relationship Type="http://schemas.openxmlformats.org/officeDocument/2006/relationships/notesMaster" Target="/ppt/notesMasters/notesMaster1.xml" Id="R5943bbea8e5f45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bcee8f7501495f" /><Relationship Type="http://schemas.openxmlformats.org/officeDocument/2006/relationships/notesMaster" Target="/ppt/notesMasters/notesMaster1.xml" Id="Rc46918231fba49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6dae7249454437" /><Relationship Type="http://schemas.openxmlformats.org/officeDocument/2006/relationships/notesMaster" Target="/ppt/notesMasters/notesMaster1.xml" Id="Rd8031ad934f249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c3ffc0c2b24733" /><Relationship Type="http://schemas.openxmlformats.org/officeDocument/2006/relationships/notesMaster" Target="/ppt/notesMasters/notesMaster1.xml" Id="Ra1d96f94857746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ae493873844da1" /><Relationship Type="http://schemas.openxmlformats.org/officeDocument/2006/relationships/notesMaster" Target="/ppt/notesMasters/notesMaster1.xml" Id="Rf9783a451f4c4a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9413c0485d4985" /><Relationship Type="http://schemas.openxmlformats.org/officeDocument/2006/relationships/notesMaster" Target="/ppt/notesMasters/notesMaster1.xml" Id="Re37c604e0ba649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9d39005d124250" /><Relationship Type="http://schemas.openxmlformats.org/officeDocument/2006/relationships/notesMaster" Target="/ppt/notesMasters/notesMaster1.xml" Id="R4fe1b4a6a8274e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owner: Prem Bharne, Pune, India. Source reviewed 31 October 2026. Code: frontend/src/App.tsx; frontend/src/messenger; frontend/src/payments; frontend/src/p2p. This deck describes current code, not a claim of Mainnet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the project design objective, not a quantified market study. Sources: frontend/src/payments/CampaignComposer.tsx; frontend/src/p2p/OfferBoard.tsx; server/src/accounts.ts.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frontend/src/messenger/Messenger.tsx, matrix.ts, messageStatus.ts; frontend/src/payments/PaymentStudio.tsx; frontend/src/p2p/SellerTrade.tsx. Pin/mute/archive preferences and room-key backup/recovery are also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server/src/walletAccounts.ts; frontend/src/wallet; frontend/src/messenger/sessionStore.ts, keyBackup.ts, KeyRecovery.tsx. Login challenge expires after five minutes; application bearer sessions last one hour. Room-key export uses PBKDF2-SHA256 and AES-GCM. Wallet sign-in alone cannot recover missing room keys. Mobile collection does not verify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frontend/src/payments/NativeComposer.tsx; contracts/contracts/GhostPayNativeEscrow.sol. ClaimAuthorization binds payment ID, recipient and deadline within a chain/contract EIP-712 domain. The recipient calls claimPayment. The sender pays direct transfer gas; links require deposit and claim transactions.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contracts/contracts/GhostPayCommunity.sol; frontend/src/payments/CampaignComposer.tsx, AllocationPicker.tsx, CampaignPage.tsx; shared/allocationPlan.ts; frontend/src/messenger/campaignLink.ts. Integer allocation splitting conserves the total. Titles, recipient lists and amounts are public on-chain. Pasted trusted campaign links render cards after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frontend/src/p2p/OfferBoard.tsx, SellerTrade.tsx, TradePaymentDetails.tsx, UTRPanel.tsx; server/src/buyOffers.ts, privateTradeDetails.ts. Seller UPI profile is saved once and attached as a trade snapshot. The current app uses Testnet tMSTC with real INR. The app does not collect the INR.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contracts/contracts/GhostChatUTRTrade.sol; shared/utrConfirmation.ts; server/src/privateTradeDetails.ts. Raw states: 1 funded, 3 confirmation pending, 4 released, 5 returned, 6 mismatch/dispute. Signature binds chain, escrow, trade, actor and commitment. No arbitrator or unilateral seller timeout reclaim exists in this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server/src/privateTradeDetails.ts; contracts/contracts/GhostChatUTRTrade.sol; docs/P2P-MUTUAL-UTR.md. Equal invented references can still match. Authorized buyers can copy visible UPI details. Public chain data includes parties, amounts and commitments. HMAC plus a signature is not a zero-knowledge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frontend/package.json; server/package.json; infra/matrix/compose.yaml; infra/matrix/install-relay.mjs; vercel-site/lib/relay.js. Vercel forwards allowlisted API calls to EC2. Backend secrets stay out of VITE_ configuration. API relay is not a gas-sponsored transaction relayer; participants pay their transaction gas.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contracts/contracts/GhostPayNativeEscrow.sol, GhostPayCommunity.sol, GhostChatUTRTrade.sol, GhostChatMainnetTrade.sol. Solidity 0.8.28, Paris target for these deployment modules, Hardhat 3 and OpenZeppelin. The Mainnet variant changes contract name and deployment chain guard. No platform fee is deducted in these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contracts/contracts/GhostChatMainnetSuite.sol; scripts/mainnet-deployment/server.mjs, wallet.js, verify.mjs. Four deployments occur within one transaction: registry plus three modules. The tool requires two confirmations and verifies exact input/runtime bytecodes. Mainnet deployment was verified on 31 October 2026; see next slide. App Mainnet activation needs separate network, backend, storage and signature configuration. RPC settings: shared/network.ts; chain ID independently checked against https://mariorpc.mstblockchain.com.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deployments/mst-mainnet.json; exact creation input, two confirmations and all four runtime bytecodes rechecked using scripts/mainnet-deployment/verify.mjs. Transaction: https://mstscan.com/tx/0xc53450bd1f98aa6ab29e4d78e5b27aab696205f8c1569fd9f5c1a2c113eadaa8. Suite: 0xC6415aDfE9b2793200aDFB71918043F054ea5E11. App: https://ghostchat-rho.vercel.app. Deployment alone does not enable Mainnet flows in the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contracts/test/GhostChatMainnetSuite.ts; frontend/test; server/test; README.md. Current contract bounds: &gt;0 and &lt;=10 native coins; INR total 1 to 100000. Real INR against valueless test tokens is experimental. Tests validate code paths on local environments, not real bank settlement or production security. Frontend: https://ghostchat-rho.vercel.app.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80570902442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49ed1f46848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120f99dfd41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816e2833c42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3a3f53ca740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06b7d149944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DDEBC0-2915-4687-9751-8E34E2BFD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9E64DB-2419-4813-9F5F-7A3ACA5EF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AE7B3E-D32D-45C0-B8A5-38511CB67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999D4F-8751-46AE-9FDA-793F7C1A4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731A0A-9157-45CB-956D-863821B283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2D18C4-5672-47F6-A463-46BAED6AB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370C8-3236-4257-A529-0E2429226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8D8000-18A9-4C3C-8AB2-1D2D9E8E42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555C6C-49D2-4ED4-8DA7-ACCBA03E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3DC93F-BA0A-4131-A655-CC2D17869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ce438c8ec4fc6" /><Relationship Type="http://schemas.openxmlformats.org/officeDocument/2006/relationships/slideLayout" Target="/ppt/slideLayouts/slideLayout1.xml" Id="Rf743139689df48c0" /><Relationship Type="http://schemas.openxmlformats.org/officeDocument/2006/relationships/slideLayout" Target="/ppt/slideLayouts/slideLayout2.xml" Id="Rb17aa12216394bfb" /><Relationship Type="http://schemas.openxmlformats.org/officeDocument/2006/relationships/slideLayout" Target="/ppt/slideLayouts/slideLayout3.xml" Id="Rf8fc9f2d382447e8" /><Relationship Type="http://schemas.openxmlformats.org/officeDocument/2006/relationships/slideLayout" Target="/ppt/slideLayouts/slideLayout4.xml" Id="Re0c3af0948b54130" /><Relationship Type="http://schemas.openxmlformats.org/officeDocument/2006/relationships/slideLayout" Target="/ppt/slideLayouts/slideLayout5.xml" Id="R06ea39d5cb734f97" /><Relationship Type="http://schemas.openxmlformats.org/officeDocument/2006/relationships/slideLayout" Target="/ppt/slideLayouts/slideLayout6.xml" Id="R808f73b4c149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3139689df48c0"/>
    <p:sldLayoutId xmlns:r="http://schemas.openxmlformats.org/officeDocument/2006/relationships" id="2147483650" r:id="Rb17aa12216394bfb"/>
    <p:sldLayoutId xmlns:r="http://schemas.openxmlformats.org/officeDocument/2006/relationships" id="2147483651" r:id="Rf8fc9f2d382447e8"/>
    <p:sldLayoutId xmlns:r="http://schemas.openxmlformats.org/officeDocument/2006/relationships" id="2147483652" r:id="Re0c3af0948b54130"/>
    <p:sldLayoutId xmlns:r="http://schemas.openxmlformats.org/officeDocument/2006/relationships" id="2147483653" r:id="R06ea39d5cb734f97"/>
    <p:sldLayoutId xmlns:r="http://schemas.openxmlformats.org/officeDocument/2006/relationships" id="2147483654" r:id="R808f73b4c149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4ead0274e40e7" /><Relationship Type="http://schemas.openxmlformats.org/officeDocument/2006/relationships/notesSlide" Target="/ppt/notesSlides/notesSlide1.xml" Id="R968fb7f116364b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41be0839e4148" /><Relationship Type="http://schemas.openxmlformats.org/officeDocument/2006/relationships/notesSlide" Target="/ppt/notesSlides/notesSlide2.xml" Id="Rb2e24772f3ba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1755b39b94d08" /><Relationship Type="http://schemas.openxmlformats.org/officeDocument/2006/relationships/notesSlide" Target="/ppt/notesSlides/notesSlide3.xml" Id="R5676535ead6a40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e6ee77aae4aa3" /><Relationship Type="http://schemas.openxmlformats.org/officeDocument/2006/relationships/notesSlide" Target="/ppt/notesSlides/notesSlide4.xml" Id="R67567cce1cc245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f99966c1942d4" /><Relationship Type="http://schemas.openxmlformats.org/officeDocument/2006/relationships/notesSlide" Target="/ppt/notesSlides/notesSlide5.xml" Id="R745a8e20211941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360410ebe4e79" /><Relationship Type="http://schemas.openxmlformats.org/officeDocument/2006/relationships/notesSlide" Target="/ppt/notesSlides/notesSlide6.xml" Id="Rfb9b6f72832245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137a3e2c945d9" /><Relationship Type="http://schemas.openxmlformats.org/officeDocument/2006/relationships/notesSlide" Target="/ppt/notesSlides/notesSlide7.xml" Id="R82b2c9eede4f40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19d479a12495c" /><Relationship Type="http://schemas.openxmlformats.org/officeDocument/2006/relationships/notesSlide" Target="/ppt/notesSlides/notesSlide8.xml" Id="Rc58e9a86d47a49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128d357d44abb" /><Relationship Type="http://schemas.openxmlformats.org/officeDocument/2006/relationships/notesSlide" Target="/ppt/notesSlides/notesSlide9.xml" Id="R12039b75a8ff43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33ec4dcbb450b" /><Relationship Type="http://schemas.openxmlformats.org/officeDocument/2006/relationships/notesSlide" Target="/ppt/notesSlides/notesSlide10.xml" Id="Rb05b16ba66754f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1fba6b2ca4cc1" /><Relationship Type="http://schemas.openxmlformats.org/officeDocument/2006/relationships/notesSlide" Target="/ppt/notesSlides/notesSlide11.xml" Id="R682b9c65b5e64c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c6e82d2c24015" /><Relationship Type="http://schemas.openxmlformats.org/officeDocument/2006/relationships/notesSlide" Target="/ppt/notesSlides/notesSlide12.xml" Id="R2e0ef92bdba640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35ba864a44316" /><Relationship Type="http://schemas.openxmlformats.org/officeDocument/2006/relationships/notesSlide" Target="/ppt/notesSlides/notesSlide13.xml" Id="R7582d785985e48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9d2b2f56345cf" /><Relationship Type="http://schemas.openxmlformats.org/officeDocument/2006/relationships/notesSlide" Target="/ppt/notesSlides/notesSlide14.xml" Id="R06980bc77ade4a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AB7F3-BDA8-4C53-A03E-531E7E49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defPPr>
            <a:lvl1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1pPr>
            <a:lvl2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2pPr>
            <a:lvl3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3pPr>
            <a:lvl4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4pPr>
            <a:lvl5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5pPr>
            <a:lvl6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6pPr>
            <a:lvl7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7pPr>
            <a:lvl8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8pPr>
            <a:lvl9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CFFF28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CFFF28"/>
                </a:solidFill>
                <a:latin typeface="Arial"/>
                <a:ea typeface="Arial"/>
                <a:cs typeface="Arial"/>
              </a:rPr>
              <a:t>GhostChat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DCC60-8724-4C52-A30D-A762725D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42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Community messaging and MST payments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F1644-82E8-4C1A-B03C-233A7793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E2CB"/>
                </a:solidFill>
                <a:latin typeface="Arial"/>
                <a:ea typeface="Arial"/>
                <a:cs typeface="Arial"/>
              </a:rPr>
              <a:t>Current implementation</a:t>
            </a:r>
          </a:p>
          <a:p xmlns:a="http://schemas.openxmlformats.org/drawingml/2006/main">
            <a:pPr>
              <a:defRPr sz="2025" b="0">
                <a:solidFill>
                  <a:srgbClr val="4FE2C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E2CB"/>
                </a:solidFill>
                <a:latin typeface="Arial"/>
                <a:ea typeface="Arial"/>
                <a:cs typeface="Arial"/>
              </a:rPr>
              <a:t>BridgeKey identity, Matrix messaging and participant-confirmed UPI trades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E4093-5FBC-45D6-9131-7728519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ghostchat-rho.vercel.app</a:t>
            </a:r>
          </a:p>
        </p:txBody>
      </p:sp>
    </p:spTree>
    <p:extLst>
      <p:ext uri="{BB962C8B-B14F-4D97-AF65-F5344CB8AC3E}">
        <p14:creationId xmlns:p14="http://schemas.microsoft.com/office/powerpoint/2010/main" val="206859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FF3AA-51D3-407B-8F64-F8B6A9D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Problem and intended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13F3A-52CF-484B-B7E3-DA3FA5B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Community payments require coordination across identities, conversations and wallets.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4E0F3-98FE-4441-9A30-9E71E95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39C5A-CB59-4054-A35C-330C5EC9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Organizers need to assign contributor funds and let eligible people claim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51670-50B2-4B5B-8ACD-AF99A33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F7D86-1922-46CB-8301-D1AA7627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People need a registered username to connect a conversation with the intended wallet.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C1C04-8E26-4B17-AE30-DE6041D2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F6333-2875-462E-B1BE-315AD2BF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P2P participants need clear payment direction and token custody while they confirm a transfer.</a:t>
            </a:r>
          </a:p>
        </p:txBody>
      </p:sp>
    </p:spTree>
    <p:extLst>
      <p:ext uri="{BB962C8B-B14F-4D97-AF65-F5344CB8AC3E}">
        <p14:creationId xmlns:p14="http://schemas.microsoft.com/office/powerpoint/2010/main" val="749864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9ED71-76A0-43EC-850A-4919B0A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Current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91A97-A3A9-4AF1-9F39-2E347F3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One messenger workspace keeps chat and payment tools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55183-866C-45B8-AE5A-364AAE54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3C0C1-184B-4D37-8484-428A04B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Direct and group chat, community channels, attachments, voice notes and read receipts.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D63A1-F19B-40A7-AA88-8C3F46E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84CE-0FC1-4181-991C-E4E714AA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Direct transfers, approved payment links and fully funded community allocations.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0BE7E-291F-4B1E-A787-AAAC9B95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9A24C-2FE1-4B2C-B709-72A1B3E3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P2P offer board with saved private UPI details and wallet-approved confirmations.</a:t>
            </a:r>
          </a:p>
        </p:txBody>
      </p:sp>
    </p:spTree>
    <p:extLst>
      <p:ext uri="{BB962C8B-B14F-4D97-AF65-F5344CB8AC3E}">
        <p14:creationId xmlns:p14="http://schemas.microsoft.com/office/powerpoint/2010/main" val="1297022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A79ED-6491-4E1B-B5E9-CD1F3285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Account and messaging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E5640-F7C8-41FC-A57C-CD06A28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BridgeKey proves wallet ownership; Matrix provides the messaging account.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5FB0F-CE80-4B1F-88BB-672D175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61C01-DDE5-4F50-B955-A3EECD7E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user signs a single-use challenge and registers a unique username and profile.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5A5B2-753B-4F8E-8136-5B6C2D2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90D4-EFE0-4419-A1AC-91163814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API issues a short-lived Matrix ticket; Synapse provisions the wallet-linked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40517-60BF-4B2F-9799-21A96AE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62E7B-17F0-47AC-A62D-D0BC8F2C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Encrypted history depends on device room keys. An encrypted backup supports recovery.</a:t>
            </a:r>
          </a:p>
        </p:txBody>
      </p:sp>
    </p:spTree>
    <p:extLst>
      <p:ext uri="{BB962C8B-B14F-4D97-AF65-F5344CB8AC3E}">
        <p14:creationId xmlns:p14="http://schemas.microsoft.com/office/powerpoint/2010/main" val="626470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3EF9-2B88-4F57-8FC1-2BA8F9D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Direct transfers and payment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8B704-F4CA-4835-9E14-132739D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The sender reviews the exact recipient before approving funds.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793AD-EE4A-45A4-91F9-C4B3A136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B01B5-3C16-438C-A0B8-F6521C7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Direct transfer: send native coins to a username-resolved wallet, with no recipient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CEA5D-25F1-407D-9784-F9ACEE8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35381-78CE-4624-BBD5-9704288B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Payment link: deposit funds, then sign an authorization for the exact claiming wallet.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67263-5558-417B-B4B0-4050E55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337F3-805D-4A34-BD21-2010A29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Only the approved wallet can claim before expiry; the sender can refund after expiry.</a:t>
            </a:r>
          </a:p>
        </p:txBody>
      </p:sp>
    </p:spTree>
    <p:extLst>
      <p:ext uri="{BB962C8B-B14F-4D97-AF65-F5344CB8AC3E}">
        <p14:creationId xmlns:p14="http://schemas.microsoft.com/office/powerpoint/2010/main" val="1854010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7F644-8124-4F21-B505-CAED765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Community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DDA5C-97FD-4AC0-BD70-4756E79F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A funded allocation determines eligibility independently of chat membership.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18586-6BE1-4A96-BC16-1E1A104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02B4C-2D67-44A5-A775-0BFC10A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Choose up to 100 registered wallets and amounts, or divide a total pool equally.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9D9A3-2FD7-48A9-8F6D-5ACA7534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82E4-1C91-45E3-9FCE-709A7A6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One deposit fixes the allocations. The chat fund card opens View my eligibility.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301AF-1D96-43E9-BA38-B6C8F9B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6550-FAE9-404F-9593-6B59A16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Each allocated wallet claims once. The organizer refunds the unclaimed remainder after expiry.</a:t>
            </a:r>
          </a:p>
        </p:txBody>
      </p:sp>
    </p:spTree>
    <p:extLst>
      <p:ext uri="{BB962C8B-B14F-4D97-AF65-F5344CB8AC3E}">
        <p14:creationId xmlns:p14="http://schemas.microsoft.com/office/powerpoint/2010/main" val="1790822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63941-BE41-4019-9BAF-129EF49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P2P trading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2DA1-B2A2-47AC-8D0D-17EF4FC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Buyer pays INR; seller supplies and locks the tokens.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FDAE8-F70E-4444-8A48-6A25B5F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27039-34C1-4C27-9F03-F729F25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Buyer posts amount and INR rate. Seller selects the request and deposits tokens into escrow.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814CB-3CB4-42A2-BE02-C069B798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96FE9-1CA0-4827-999D-2C9ABEC6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assigned buyer sees the seller’s private UPI ID and QR, then pays through a UPI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74602-DAB3-485F-9CD2-2D4F532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3DBA9-8FB3-4844-A528-875B1D64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Both enter the shared transaction reference independently and confirm with their own wallets.</a:t>
            </a:r>
          </a:p>
        </p:txBody>
      </p:sp>
    </p:spTree>
    <p:extLst>
      <p:ext uri="{BB962C8B-B14F-4D97-AF65-F5344CB8AC3E}">
        <p14:creationId xmlns:p14="http://schemas.microsoft.com/office/powerpoint/2010/main" val="1493619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718A2-53D2-4CC6-A548-508446D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Escrow settlement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C80B7-011F-4A11-92F5-6C8537E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Matching participant confirmations release tokens to the fixed buyer.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67A01-9CE0-4F31-88E6-B956F33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9BB48-53DE-4156-874B-E622347C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relay creates a trade-scoped HMAC commitment and an actor-bound EIP-712 attestation.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D8A5A-01E7-41A9-9422-B6AD1CE4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04217-B8AF-4F77-9566-5F058DE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contract releases after both commitments match. Mismatches stay locked and allow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FEEDE-7CCB-442B-8137-1BCAC7B1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F59D1-6587-4BAA-8060-B914AE14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Cancellation requires both parties. Non-cooperation can leave funds locked indefinitely.</a:t>
            </a:r>
          </a:p>
        </p:txBody>
      </p:sp>
    </p:spTree>
    <p:extLst>
      <p:ext uri="{BB962C8B-B14F-4D97-AF65-F5344CB8AC3E}">
        <p14:creationId xmlns:p14="http://schemas.microsoft.com/office/powerpoint/2010/main" val="240651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6C854-7CC9-475D-8C4B-5072531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Privacy and verification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2428E-EF70-4CF1-8F93-1E2A910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Reference agreement does not independently establish a bank credit.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E67D1-2158-48BB-BA5D-ACD73BC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AE209-0DE7-4EE7-BAE7-E3E01C3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UPI profiles are encrypted on the server and excluded from the public offer board and chat shares.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D9E01-4CC2-44D9-84B6-D29FF38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DD757-09E3-4114-8724-2914A57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The relay sees submitted references transiently. The counterpart receives no raw reference through the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6E41F-F445-4443-B5CC-7581324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94D3D-6EB0-4C39-9D98-698513A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No ZK proof or bank-payment verification runs in this flow. The seller checks their own bank app.</a:t>
            </a:r>
          </a:p>
        </p:txBody>
      </p:sp>
    </p:spTree>
    <p:extLst>
      <p:ext uri="{BB962C8B-B14F-4D97-AF65-F5344CB8AC3E}">
        <p14:creationId xmlns:p14="http://schemas.microsoft.com/office/powerpoint/2010/main" val="13652659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7D656-87D5-4335-A431-9F0C44D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6109-93EB-4DF9-873A-493B231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Vercel serves the app; EC2 hosts the account and messaging services.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E7E1F-BB17-4CBD-ACA1-37B737D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8EC56-2736-45DE-ABC6-1B94182A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React 19 and Vite 7 use wagmi, viem and matrix-js-sdk 44 in the browser.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06ED6-E91B-478F-A9A5-5CEBB5C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4ABB-D7A2-42DF-90C5-3B1AC65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Node.js 24 and Express 5 manage wallet sessions, SQLite records and signed reference attestations.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4000E-E00D-4466-BAF6-8689F1C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2C4E2-C70E-4BCA-8D3C-AE489B7F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Docker runs Synapse, PostgreSQL, the GhostChat API and Caddy HTTPS on AWS EC2.</a:t>
            </a:r>
          </a:p>
        </p:txBody>
      </p:sp>
    </p:spTree>
    <p:extLst>
      <p:ext uri="{BB962C8B-B14F-4D97-AF65-F5344CB8AC3E}">
        <p14:creationId xmlns:p14="http://schemas.microsoft.com/office/powerpoint/2010/main" val="778448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5AF13-2386-4B53-B559-0721385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Contract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0BC7F-D680-46F2-B1D1-12315353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The current payment model needs three contracts; direct transfers need none.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CF3D3-A83B-492D-A06F-2BE351B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6FDE-68D3-4673-9044-2477EC7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GhostPayNativeEscrow holds recipient-authorized payment-link deposits.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F573E-908B-4796-B736-ECEC6CD4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DB5E0-9D4A-4056-A720-00B16B4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GhostPayCommunity holds immutable native-coin allocations for eligible wallets.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89C6E-6ACB-4D66-90DF-394737F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2CF69-0511-43A4-9A65-E0AA5C63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GhostChatUTRTrade implements the integrated Testnet P2P flow; the Mainnet variant preserves its settlement logic.</a:t>
            </a:r>
          </a:p>
        </p:txBody>
      </p:sp>
    </p:spTree>
    <p:extLst>
      <p:ext uri="{BB962C8B-B14F-4D97-AF65-F5344CB8AC3E}">
        <p14:creationId xmlns:p14="http://schemas.microsoft.com/office/powerpoint/2010/main" val="1660615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6F462-FBC8-4E0A-9DB6-01037711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Mainnet batch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C8F7F-D4D2-4F60-81C8-3F57EA4E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One wallet transaction creates all three payment modules atomically.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26B40-CE3B-46B0-ACBB-5728BFC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151F-2401-47CE-8F1D-DD18E219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Run npm run deploy:mainnet:wallet and open 127.0.0.1:5180 with BridgeKey.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6ACA3-94EC-4F13-B04A-C1E0A1A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59BCD-9592-40FC-8545-AC32EC8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Review Mainnet chain 4646 and the real MSTC gas estimate. The deployment sends zero principal.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6F927-0541-46C9-8389-AAB49B46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C5AF7-027B-400A-ADAA-E9FA56E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After confirmation, runtime verification writes a receipt and the README addresses. No commit or push occurs.</a:t>
            </a:r>
          </a:p>
        </p:txBody>
      </p:sp>
    </p:spTree>
    <p:extLst>
      <p:ext uri="{BB962C8B-B14F-4D97-AF65-F5344CB8AC3E}">
        <p14:creationId xmlns:p14="http://schemas.microsoft.com/office/powerpoint/2010/main" val="1761020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EEE8D-2A8A-4D89-80E6-6EA92CF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Verified MST Mainnet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345A-7F59-4288-A096-08948AA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Chain 4646, block 21799274. Hosted Mainnet payment services remain disabled.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7904B-CE24-475D-9263-4AE6F971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97143-ADD3-46FE-A5E6-F6D946A5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Payment-link escrow</a:t>
            </a:r>
          </a:p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0x4Fa57c8F3046ceF96371EC181c1dc123F2516247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6E869-451C-4A30-8836-82FA12C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EACD7-A041-4BFB-8801-978D830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Community allocation contract</a:t>
            </a:r>
          </a:p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0xf94C7F000f6e39eB5fcF4079660D9cebdE298C00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9AEFB-3437-4D83-BC9F-979452C3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780B3-54AA-45B8-905C-D5B475A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Mutual-confirmation P2P escrow</a:t>
            </a:r>
          </a:p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0x652bfc4fAE71303951B5f9D562B229b58233aB66</a:t>
            </a:r>
          </a:p>
        </p:txBody>
      </p:sp>
    </p:spTree>
    <p:extLst>
      <p:ext uri="{BB962C8B-B14F-4D97-AF65-F5344CB8AC3E}">
        <p14:creationId xmlns:p14="http://schemas.microsoft.com/office/powerpoint/2010/main" val="958403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39177-65D3-465D-8A78-9246577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E38"/>
                </a:solidFill>
                <a:latin typeface="Arial"/>
                <a:ea typeface="Arial"/>
                <a:cs typeface="Arial"/>
              </a:rPr>
              <a:t>Demonstration and current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45680-F297-4A9B-910B-871E063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73"/>
                </a:solidFill>
                <a:latin typeface="Arial"/>
                <a:ea typeface="Arial"/>
                <a:cs typeface="Arial"/>
              </a:rPr>
              <a:t>The running workflow uses Testnet tokens and direct real-INR UPI transfers.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F0D1C-23E6-40A1-9303-B7C6ECF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3DE40-88F2-4091-AEA3-DC914FC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Demonstrate two wallets: buyer request, seller funding, private buyer QR view and both confirmations.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B33A0-8C8B-4A09-8973-547AC04A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D23C-E02B-40CB-8410-3B8FDA8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90925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Also show a community eligibility claim, a reference mismatch and encrypted chat key recovery.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1F2A1-2B32-43EC-920F-14AEFBBC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6E084-FC48-4213-A41F-AA7C627C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76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38"/>
                </a:solidFill>
                <a:latin typeface="Arial"/>
                <a:ea typeface="Arial"/>
                <a:cs typeface="Arial"/>
              </a:rPr>
              <a:t>Contracts are unaudited. Mainnet deployment alone does not enable Mainnet services or establish bank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49863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2026-10-31T03:11:28.4010000Z</dcterms:created>
  <dcterms:modified xsi:type="dcterms:W3CDTF">2026-10-31T03:11:28.4010000Z</dcterms:modified>
</coreProperties>
</file>